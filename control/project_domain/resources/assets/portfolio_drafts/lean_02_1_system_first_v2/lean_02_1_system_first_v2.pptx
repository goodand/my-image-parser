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2340864" cy="384048"/>
          </a:xfrm>
          <a:prstGeom prst="roundRect">
            <a:avLst/>
          </a:prstGeom>
          <a:solidFill>
            <a:srgbClr val="2D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8222B"/>
                </a:solidFill>
                <a:latin typeface="Apple SD Gothic Neo"/>
              </a:rPr>
              <a:t>ARCHITECTURE 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41248"/>
            <a:ext cx="969264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AF7F2"/>
                </a:solidFill>
                <a:latin typeface="Apple SD Gothic Neo"/>
              </a:rPr>
              <a:t>시스템을 구조로 설계하고 증명합니다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D8E1E8"/>
                </a:solidFill>
                <a:latin typeface="Apple SD Gothic Neo"/>
              </a:rPr>
              <a:t>아키텍처 다이어그램을 크게 두고, 아래에서 역할만 짧게 해석합니다.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71632" cy="4114800"/>
          </a:xfrm>
          <a:prstGeom prst="roundRect">
            <a:avLst/>
          </a:prstGeom>
          <a:solidFill>
            <a:srgbClr val="222D36"/>
          </a:solidFill>
          <a:ln w="12700">
            <a:solidFill>
              <a:srgbClr val="3A4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893" y="1783080"/>
            <a:ext cx="4988885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532120"/>
            <a:ext cx="10771632" cy="676656"/>
          </a:xfrm>
          <a:prstGeom prst="roundRect">
            <a:avLst/>
          </a:prstGeom>
          <a:solidFill>
            <a:srgbClr val="23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660136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FAF7F2"/>
                </a:solidFill>
                <a:latin typeface="Apple SD Gothic Neo"/>
              </a:rPr>
              <a:t>• 이미지 자체가 시스템 설명의 본문이다.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971031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FAF7F2"/>
                </a:solidFill>
                <a:latin typeface="Apple SD Gothic Neo"/>
              </a:rPr>
              <a:t>• 검색·생성·검증 흐름을 한 화면에서 읽게 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2823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A7B0B6"/>
                </a:solidFill>
                <a:latin typeface="Apple SD Gothic Neo"/>
              </a:rPr>
              <a:t>source: 02_1/image27.png • architecture hero • regenerated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3172968" cy="384048"/>
          </a:xfrm>
          <a:prstGeom prst="roundRect">
            <a:avLst/>
          </a:prstGeom>
          <a:solidFill>
            <a:srgbClr val="2D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302666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8222B"/>
                </a:solidFill>
                <a:latin typeface="Apple SD Gothic Neo"/>
              </a:rPr>
              <a:t>PRODUCT CONFIGURATION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41248"/>
            <a:ext cx="969264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50" b="1">
                <a:solidFill>
                  <a:srgbClr val="1E242C"/>
                </a:solidFill>
                <a:latin typeface="Apple SD Gothic Neo"/>
              </a:rPr>
              <a:t>입력과 결과가 한 흐름으로 이어집니다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64696F"/>
                </a:solidFill>
                <a:latin typeface="Apple SD Gothic Neo"/>
              </a:rPr>
              <a:t>설정 UI와 생성 결과 UI를 한 장의 경험으로 연결합니다.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28800"/>
            <a:ext cx="5166360" cy="4069080"/>
          </a:xfrm>
          <a:prstGeom prst="roundRect">
            <a:avLst/>
          </a:prstGeom>
          <a:solidFill>
            <a:srgbClr val="EEE7DA"/>
          </a:solidFill>
          <a:ln w="12700">
            <a:solidFill>
              <a:srgbClr val="D7C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32" y="1828800"/>
            <a:ext cx="1524310" cy="4069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44768" y="1828800"/>
            <a:ext cx="5376672" cy="4069080"/>
          </a:xfrm>
          <a:prstGeom prst="roundRect">
            <a:avLst/>
          </a:prstGeom>
          <a:solidFill>
            <a:srgbClr val="EEE7DA"/>
          </a:solidFill>
          <a:ln w="12700">
            <a:solidFill>
              <a:srgbClr val="D7C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853" y="1828800"/>
            <a:ext cx="2474500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8" y="5532120"/>
            <a:ext cx="10771632" cy="676656"/>
          </a:xfrm>
          <a:prstGeom prst="roundRect">
            <a:avLst/>
          </a:prstGeom>
          <a:solidFill>
            <a:srgbClr val="EA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60136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1E242C"/>
                </a:solidFill>
                <a:latin typeface="Apple SD Gothic Neo"/>
              </a:rPr>
              <a:t>• 왼쪽은 조건을 입력하는 화면, 오른쪽은 결과를 확인하는 화면이다.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71031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1E242C"/>
                </a:solidFill>
                <a:latin typeface="Apple SD Gothic Neo"/>
              </a:rPr>
              <a:t>• 텍스트보다 화면 관계가 먼저 읽히도록 배치한다.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2823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7A7E84"/>
                </a:solidFill>
                <a:latin typeface="Apple SD Gothic Neo"/>
              </a:rPr>
              <a:t>source: 02_1/image4.png + image37.png • paired product flow • regenerated 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2103120" cy="384048"/>
          </a:xfrm>
          <a:prstGeom prst="roundRect">
            <a:avLst/>
          </a:prstGeom>
          <a:solidFill>
            <a:srgbClr val="2D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195681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8222B"/>
                </a:solidFill>
                <a:latin typeface="Apple SD Gothic Neo"/>
              </a:rPr>
              <a:t>PROFILE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41248"/>
            <a:ext cx="969264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50" b="1">
                <a:solidFill>
                  <a:srgbClr val="1E242C"/>
                </a:solidFill>
                <a:latin typeface="Apple SD Gothic Neo"/>
              </a:rPr>
              <a:t>개인 맥락이 신뢰를 만듭니다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64696F"/>
                </a:solidFill>
                <a:latin typeface="Apple SD Gothic Neo"/>
              </a:rPr>
              <a:t>프로필 요약과 인물 이미지를 분리하지 않고 한 장에 묶습니다.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8119872" cy="4160520"/>
          </a:xfrm>
          <a:prstGeom prst="roundRect">
            <a:avLst/>
          </a:prstGeom>
          <a:solidFill>
            <a:srgbClr val="EEE7DA"/>
          </a:solidFill>
          <a:ln w="12700">
            <a:solidFill>
              <a:srgbClr val="D7C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907" y="1783080"/>
            <a:ext cx="2993673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107424" y="1993392"/>
            <a:ext cx="2395728" cy="3566160"/>
          </a:xfrm>
          <a:prstGeom prst="roundRect">
            <a:avLst/>
          </a:prstGeom>
          <a:solidFill>
            <a:srgbClr val="EEE7DA"/>
          </a:solidFill>
          <a:ln w="12700">
            <a:solidFill>
              <a:srgbClr val="D7C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2179320"/>
            <a:ext cx="2395728" cy="31943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8" y="5559552"/>
            <a:ext cx="10771632" cy="621792"/>
          </a:xfrm>
          <a:prstGeom prst="roundRect">
            <a:avLst/>
          </a:prstGeom>
          <a:solidFill>
            <a:srgbClr val="EA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87568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1E242C"/>
                </a:solidFill>
                <a:latin typeface="Apple SD Gothic Neo"/>
              </a:rPr>
              <a:t>• 이력 요약이 주인공이고, portrait는 신뢰를 보강한다.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98464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1E242C"/>
                </a:solidFill>
                <a:latin typeface="Apple SD Gothic Neo"/>
              </a:rPr>
              <a:t>• 프로필을 글이 아니라 실제 자료로 보여준다.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2823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7A7E84"/>
                </a:solidFill>
                <a:latin typeface="Apple SD Gothic Neo"/>
              </a:rPr>
              <a:t>source: 02_1/image5.png + image6.jpeg • profile credibility pair • regenerated 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2935224" cy="384048"/>
          </a:xfrm>
          <a:prstGeom prst="roundRect">
            <a:avLst/>
          </a:prstGeom>
          <a:solidFill>
            <a:srgbClr val="2D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2788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8222B"/>
                </a:solidFill>
                <a:latin typeface="Apple SD Gothic Neo"/>
              </a:rPr>
              <a:t>PROBLEM AND CODE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41248"/>
            <a:ext cx="969264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50" b="1">
                <a:solidFill>
                  <a:srgbClr val="1E242C"/>
                </a:solidFill>
                <a:latin typeface="Apple SD Gothic Neo"/>
              </a:rPr>
              <a:t>문제와 구현을 한 화면에 둡니다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64696F"/>
                </a:solidFill>
                <a:latin typeface="Apple SD Gothic Neo"/>
              </a:rPr>
              <a:t>문제 설명과 Python 구현이 동시에 보여야 해결 증거가 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10771632" cy="4297680"/>
          </a:xfrm>
          <a:prstGeom prst="roundRect">
            <a:avLst/>
          </a:prstGeom>
          <a:solidFill>
            <a:srgbClr val="EEE7DA"/>
          </a:solidFill>
          <a:ln w="12700">
            <a:solidFill>
              <a:srgbClr val="D7C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090" y="1783080"/>
            <a:ext cx="7531067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5641848"/>
            <a:ext cx="10771632" cy="512064"/>
          </a:xfrm>
          <a:prstGeom prst="roundRect">
            <a:avLst/>
          </a:prstGeom>
          <a:solidFill>
            <a:srgbClr val="EA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769864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1E242C"/>
                </a:solidFill>
                <a:latin typeface="Apple SD Gothic Neo"/>
              </a:rPr>
              <a:t>• 문제 정의와 코드가 함께 남아야 구현 깊이가 보인다.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2823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7A7E84"/>
                </a:solidFill>
                <a:latin typeface="Apple SD Gothic Neo"/>
              </a:rPr>
              <a:t>source: 02_1/image22.png • problem and code proof • regenerated v2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3172968" cy="384048"/>
          </a:xfrm>
          <a:prstGeom prst="roundRect">
            <a:avLst/>
          </a:prstGeom>
          <a:solidFill>
            <a:srgbClr val="2D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302666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8222B"/>
                </a:solidFill>
                <a:latin typeface="Apple SD Gothic Neo"/>
              </a:rPr>
              <a:t>PORTFOLIO EVIDENCE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41248"/>
            <a:ext cx="969264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50" b="1">
                <a:solidFill>
                  <a:srgbClr val="1E242C"/>
                </a:solidFill>
                <a:latin typeface="Apple SD Gothic Neo"/>
              </a:rPr>
              <a:t>프로젝트 표가 실행 이력을 증명합니다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64696F"/>
                </a:solidFill>
                <a:latin typeface="Apple SD Gothic Neo"/>
              </a:rPr>
              <a:t>표는 장식이 아니라 evidence이므로 값 읽기 가능성을 최대한 보존합니다.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664208"/>
            <a:ext cx="11292840" cy="4681728"/>
          </a:xfrm>
          <a:prstGeom prst="roundRect">
            <a:avLst/>
          </a:prstGeom>
          <a:solidFill>
            <a:srgbClr val="EEE7DA"/>
          </a:solidFill>
          <a:ln w="12700">
            <a:solidFill>
              <a:srgbClr val="D7C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564" y="1664208"/>
            <a:ext cx="5639534" cy="46817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5815584"/>
            <a:ext cx="10771632" cy="310896"/>
          </a:xfrm>
          <a:prstGeom prst="roundRect">
            <a:avLst/>
          </a:prstGeom>
          <a:solidFill>
            <a:srgbClr val="EA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1E242C"/>
                </a:solidFill>
                <a:latin typeface="Apple SD Gothic Neo"/>
              </a:rPr>
              <a:t>• 표 내부 값이 읽혀야 이 slide가 의미를 가진다.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2823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7A7E84"/>
                </a:solidFill>
                <a:latin typeface="Apple SD Gothic Neo"/>
              </a:rPr>
              <a:t>source: 02_1/image23.png • portfolio evidence table • regenerated v2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2935224" cy="384048"/>
          </a:xfrm>
          <a:prstGeom prst="roundRect">
            <a:avLst/>
          </a:prstGeom>
          <a:solidFill>
            <a:srgbClr val="2D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2788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8222B"/>
                </a:solidFill>
                <a:latin typeface="Apple SD Gothic Neo"/>
              </a:rPr>
              <a:t>APPLIED AI WORKFLOW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41248"/>
            <a:ext cx="969264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50" b="1">
                <a:solidFill>
                  <a:srgbClr val="FAF7F2"/>
                </a:solidFill>
                <a:latin typeface="Apple SD Gothic Neo"/>
              </a:rPr>
              <a:t>적용형 AI 흐름을 끝까지 닫습니다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D8E1E8"/>
                </a:solidFill>
                <a:latin typeface="Apple SD Gothic Neo"/>
              </a:rPr>
              <a:t>업로드, 조건 선택, 결과 화면을 하나의 applied workflow로 읽히게 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00784"/>
            <a:ext cx="9966960" cy="4681728"/>
          </a:xfrm>
          <a:prstGeom prst="roundRect">
            <a:avLst/>
          </a:prstGeom>
          <a:solidFill>
            <a:srgbClr val="222D36"/>
          </a:solidFill>
          <a:ln w="12700">
            <a:solidFill>
              <a:srgbClr val="3A4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106" y="1700784"/>
            <a:ext cx="3171306" cy="46817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5724144"/>
            <a:ext cx="10771632" cy="420624"/>
          </a:xfrm>
          <a:prstGeom prst="roundRect">
            <a:avLst/>
          </a:prstGeom>
          <a:solidFill>
            <a:srgbClr val="23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59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FAF7F2"/>
                </a:solidFill>
                <a:latin typeface="Apple SD Gothic Neo"/>
              </a:rPr>
              <a:t>• 멀티모달 입력은 noise가 아니라 workflow context다.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63055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FAF7F2"/>
                </a:solidFill>
                <a:latin typeface="Apple SD Gothic Neo"/>
              </a:rPr>
              <a:t>• 실험 결과를 실제 사용 흐름으로 연결하는 장면이다.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2823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A7B0B6"/>
                </a:solidFill>
                <a:latin typeface="Apple SD Gothic Neo"/>
              </a:rPr>
              <a:t>source: 02_1/image29.png • applied AI workflow UI • regenerated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